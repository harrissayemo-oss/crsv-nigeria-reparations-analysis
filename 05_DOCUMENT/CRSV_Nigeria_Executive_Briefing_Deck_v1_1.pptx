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9B2C2C"/>
          </a:solidFill>
          <a:ln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B2C2C"/>
                </a:solidFill>
              </a:defRPr>
            </a:pPr>
            <a:r>
              <a:rPr sz="2000" dirty="0"/>
              <a:t>EMPIRICAL TRANSITIONAL JUSTICE ASSESSMENT (1995–2023)</a:t>
            </a:r>
          </a:p>
          <a:p>
            <a:pPr>
              <a:spcBef>
                <a:spcPts val="1000"/>
              </a:spcBef>
              <a:defRPr sz="3000" b="1">
                <a:solidFill>
                  <a:srgbClr val="1A365D"/>
                </a:solidFill>
              </a:defRPr>
            </a:pPr>
            <a:r>
              <a:rPr dirty="0"/>
              <a:t>Conflict-Related Sexual Violence (CRSV) &amp; Reparation Deficits in </a:t>
            </a:r>
            <a:r>
              <a:rPr dirty="0" smtClean="0"/>
              <a:t>Nigeria</a:t>
            </a:r>
            <a:endParaRPr lang="en-GB" dirty="0" smtClean="0"/>
          </a:p>
          <a:p>
            <a:pPr>
              <a:spcBef>
                <a:spcPts val="1000"/>
              </a:spcBef>
              <a:defRPr sz="3000" b="1">
                <a:solidFill>
                  <a:srgbClr val="1A365D"/>
                </a:solidFill>
              </a:defRPr>
            </a:pPr>
            <a:r>
              <a:rPr lang="en-GB" sz="1600" dirty="0"/>
              <a:t>Decoupling Survivor Redress from Inaccessible Judicial Dockets via Administrative </a:t>
            </a:r>
            <a:r>
              <a:rPr lang="en-GB" sz="1600" dirty="0" smtClean="0"/>
              <a:t>Reparative </a:t>
            </a:r>
            <a:r>
              <a:rPr lang="en-GB" sz="1600" dirty="0"/>
              <a:t>Measures </a:t>
            </a:r>
            <a:endParaRPr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4663440"/>
            <a:ext cx="1033272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rPr sz="1600" dirty="0"/>
              <a:t>Lead Author: </a:t>
            </a:r>
            <a:r>
              <a:rPr sz="1600" dirty="0" err="1"/>
              <a:t>Sayemo</a:t>
            </a:r>
            <a:r>
              <a:rPr sz="1600" dirty="0"/>
              <a:t> Harris  |  Data Platform: Sexual Violence in Armed Conflict (SVAC, PRIO/Harvard)</a:t>
            </a:r>
          </a:p>
          <a:p>
            <a:pPr>
              <a:spcBef>
                <a:spcPts val="300"/>
              </a:spcBef>
              <a:defRPr sz="1100">
                <a:solidFill>
                  <a:srgbClr val="4A5568"/>
                </a:solidFill>
              </a:defRPr>
            </a:pPr>
            <a:r>
              <a:rPr sz="1600" dirty="0"/>
              <a:t>Prepared for: Institutional Decision-Makers, Ministry of Women Affairs, NHRC &amp; Regional Transitional Justice Coalitions</a:t>
            </a:r>
          </a:p>
          <a:p>
            <a:pPr>
              <a:spcBef>
                <a:spcPts val="300"/>
              </a:spcBef>
              <a:defRPr sz="1000" i="1">
                <a:solidFill>
                  <a:srgbClr val="4A5568"/>
                </a:solidFill>
              </a:defRPr>
            </a:pPr>
            <a:r>
              <a:rPr sz="1600" dirty="0"/>
              <a:t>Companion briefing deck derived from the full empirical assessment by </a:t>
            </a:r>
            <a:r>
              <a:rPr sz="1600" dirty="0" err="1"/>
              <a:t>Sayemo</a:t>
            </a:r>
            <a:r>
              <a:rPr sz="1600" dirty="0"/>
              <a:t> Harris (2026).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28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B2C2C"/>
                </a:solidFill>
              </a:defRPr>
            </a:pPr>
            <a:r>
              <a:rPr sz="1600" dirty="0"/>
              <a:t>EXECUTIVE BRIEFING: POLICY &amp; EVIDENCE</a:t>
            </a:r>
          </a:p>
          <a:p>
            <a:pPr>
              <a:spcBef>
                <a:spcPts val="400"/>
              </a:spcBef>
              <a:defRPr sz="2200" b="1">
                <a:solidFill>
                  <a:srgbClr val="1A365D"/>
                </a:solidFill>
              </a:defRPr>
            </a:pPr>
            <a:r>
              <a:rPr sz="2800" dirty="0"/>
              <a:t>Empirical Baseline: Documented Violations &amp; Institutional Exposure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rPr dirty="0"/>
              <a:t>33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1A365D"/>
                </a:solidFill>
              </a:defRPr>
            </a:pPr>
            <a:r>
              <a:rPr sz="1400" dirty="0"/>
              <a:t>CUMULATIVE ACTOR-YEARS</a:t>
            </a:r>
          </a:p>
          <a:p>
            <a:pPr algn="ctr"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Aggregated institutional exposure across sovereign and non-state entities (1995–2023).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9B2C2C"/>
                </a:solidFill>
              </a:defRPr>
            </a:pPr>
            <a:r>
              <a:rPr dirty="0"/>
              <a:t>14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1A365D"/>
                </a:solidFill>
              </a:defRPr>
            </a:pPr>
            <a:r>
              <a:rPr sz="1400" dirty="0"/>
              <a:t>STATE FORCE ACTOR-YEARS</a:t>
            </a:r>
          </a:p>
          <a:p>
            <a:pPr algn="ctr"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Documented violation exposure for statutory armed forces &amp; police (42.4% of recorded actor-years).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B45309"/>
                </a:solidFill>
              </a:defRPr>
            </a:pPr>
            <a:r>
              <a:rPr dirty="0"/>
              <a:t>19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1A365D"/>
                </a:solidFill>
              </a:defRPr>
            </a:pPr>
            <a:r>
              <a:rPr sz="1400" dirty="0"/>
              <a:t>INSURGENT ACTOR-YEARS</a:t>
            </a:r>
          </a:p>
          <a:p>
            <a:pPr algn="ctr"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Protracted systematic violence by JAS/Boko Haram and ISWAP (57.6% of recorded actor-years).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rPr sz="2000" dirty="0"/>
              <a:t>Key Analytical Insights (SVAC Dataset Synthesis):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• Additive Actor Observations vs. Calendar Duration: Because state forces and insurgent groups operated concurrently during peak conflict periods, the 33 actor-years represent additive observational data rather than 33 non-overlapping calendar years.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• Unbroken Sovereign Exposure: State forces accumulated 14 violation-years between 2004 and 2019, providing an empirical imperative to fulfill domestic and treaty-based human rights obligations.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• Persistent Insurgent Severity: Boko Haram and ISWAP sustained peak systematic severity (prevalence level 3) continuously through the 2023 analytical horizon.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89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B2C2C"/>
                </a:solidFill>
              </a:defRPr>
            </a:pPr>
            <a:r>
              <a:rPr sz="2000" dirty="0"/>
              <a:t>EXECUTIVE BRIEFING: POLICY &amp; EVIDENCE</a:t>
            </a:r>
          </a:p>
          <a:p>
            <a:pPr>
              <a:spcBef>
                <a:spcPts val="400"/>
              </a:spcBef>
              <a:defRPr sz="2200" b="1">
                <a:solidFill>
                  <a:srgbClr val="1A365D"/>
                </a:solidFill>
              </a:defRPr>
            </a:pPr>
            <a:r>
              <a:rPr sz="2800" dirty="0"/>
              <a:t>Systematic Targeting of Children &amp; Intergenerational Harm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defRPr sz="5400" b="1">
                <a:solidFill>
                  <a:srgbClr val="9B2C2C"/>
                </a:solidFill>
              </a:defRPr>
            </a:pPr>
            <a:r>
              <a:rPr dirty="0"/>
              <a:t>19</a:t>
            </a:r>
          </a:p>
          <a:p>
            <a:pPr algn="ctr">
              <a:defRPr sz="1100" b="1">
                <a:solidFill>
                  <a:srgbClr val="1A365D"/>
                </a:solidFill>
              </a:defRPr>
            </a:pPr>
            <a:r>
              <a:rPr sz="1600" dirty="0"/>
              <a:t>ACTOR-VIOLATION YEARS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rPr sz="1400" dirty="0"/>
              <a:t>Reached Massive or Systematic Child Targeting (Prevalence Score ≥ 2)</a:t>
            </a:r>
          </a:p>
          <a:p>
            <a:pPr algn="ctr">
              <a:spcBef>
                <a:spcPts val="1400"/>
              </a:spcBef>
              <a:defRPr sz="1000">
                <a:solidFill>
                  <a:srgbClr val="4A5568"/>
                </a:solidFill>
              </a:defRPr>
            </a:pPr>
            <a:r>
              <a:rPr sz="1400" dirty="0"/>
              <a:t>Demonstrates deliberate doctrinal </a:t>
            </a:r>
            <a:r>
              <a:rPr sz="1400" dirty="0" err="1"/>
              <a:t>weaponization</a:t>
            </a:r>
            <a:r>
              <a:rPr sz="1400" dirty="0"/>
              <a:t> of sexual violence against minors in the Lake Chad Basin rather than random opportunistic infractions.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645920"/>
            <a:ext cx="694944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rPr sz="2000" dirty="0"/>
              <a:t>Compounded Multi-Generational Impacts Requiring Immediate Policy Redress:</a:t>
            </a:r>
          </a:p>
          <a:p>
            <a:pPr>
              <a:spcBef>
                <a:spcPts val="1200"/>
              </a:spcBef>
              <a:defRPr sz="1200" b="1">
                <a:solidFill>
                  <a:srgbClr val="9B2C2C"/>
                </a:solidFill>
              </a:defRPr>
            </a:pPr>
            <a:r>
              <a:rPr sz="1600" dirty="0"/>
              <a:t>Legal &amp; Identity Exclusion: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Hundreds of 'children born of war' remain stateless or lack birth registration, blocking access to public education, basic healthcare, and legal inheritance.</a:t>
            </a:r>
          </a:p>
          <a:p>
            <a:pPr>
              <a:spcBef>
                <a:spcPts val="1200"/>
              </a:spcBef>
              <a:defRPr sz="1200" b="1">
                <a:solidFill>
                  <a:srgbClr val="9B2C2C"/>
                </a:solidFill>
              </a:defRPr>
            </a:pPr>
            <a:r>
              <a:rPr sz="1600" dirty="0"/>
              <a:t>Severe Pediatric &amp; Psychological Trauma: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Minors subjected to prolonged captivity, forced marriages, and sexual enslavement lack specialized, trauma-informed clinical psychiatric infrastructure.</a:t>
            </a:r>
          </a:p>
          <a:p>
            <a:pPr>
              <a:spcBef>
                <a:spcPts val="1200"/>
              </a:spcBef>
              <a:defRPr sz="1200" b="1">
                <a:solidFill>
                  <a:srgbClr val="9B2C2C"/>
                </a:solidFill>
              </a:defRPr>
            </a:pPr>
            <a:r>
              <a:rPr sz="1600" dirty="0"/>
              <a:t>Rejection &amp; Community Stigmatization: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Mothers and offspring face structural </a:t>
            </a:r>
            <a:r>
              <a:rPr sz="1600" dirty="0" err="1"/>
              <a:t>ostracization</a:t>
            </a:r>
            <a:r>
              <a:rPr sz="1600" dirty="0"/>
              <a:t> upon returning from insurgent enclaves, intensifying poverty cycles in displacement settings.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89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B2C2C"/>
                </a:solidFill>
              </a:defRPr>
            </a:pPr>
            <a:r>
              <a:rPr sz="2000" dirty="0"/>
              <a:t>EXECUTIVE BRIEFING: POLICY &amp; EVIDENCE</a:t>
            </a:r>
          </a:p>
          <a:p>
            <a:pPr>
              <a:spcBef>
                <a:spcPts val="400"/>
              </a:spcBef>
              <a:defRPr sz="2200" b="1">
                <a:solidFill>
                  <a:srgbClr val="1A365D"/>
                </a:solidFill>
              </a:defRPr>
            </a:pPr>
            <a:r>
              <a:rPr sz="2800" dirty="0"/>
              <a:t>The Reparations Deficit: Shifting From Criminal Trials to IRMs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01994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defRPr sz="1300" b="1">
                <a:solidFill>
                  <a:srgbClr val="9B2C2C"/>
                </a:solidFill>
              </a:defRPr>
            </a:pPr>
            <a:r>
              <a:rPr sz="2000" dirty="0" smtClean="0"/>
              <a:t>CURRENT</a:t>
            </a:r>
            <a:r>
              <a:rPr lang="en-GB" sz="2000" dirty="0" smtClean="0"/>
              <a:t>: </a:t>
            </a:r>
            <a:r>
              <a:rPr lang="en-GB" sz="2000" b="1" dirty="0" smtClean="0"/>
              <a:t>The </a:t>
            </a:r>
            <a:r>
              <a:rPr lang="en-GB" sz="2000" b="1" dirty="0"/>
              <a:t>Judicial Paradigm (Structurally Inaccessible)</a:t>
            </a:r>
            <a:endParaRPr sz="2000" dirty="0"/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lang="en-GB" sz="1600" dirty="0"/>
              <a:t>Perpetrator Inaccessibility: Redress remains legally tethered to individual criminal prosecutions, yet most commanders and combatants are unidentified, deceased, or beyond legal reach.</a:t>
            </a:r>
            <a:endParaRPr lang="en-GB" sz="1600" dirty="0" smtClean="0"/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600" dirty="0" smtClean="0"/>
              <a:t>•</a:t>
            </a:r>
            <a:r>
              <a:rPr lang="en-US" sz="1600" dirty="0"/>
              <a:t>Neglected in Security Dockets: Military tribunals and fast-tracked terrorism trials (e.g., </a:t>
            </a:r>
            <a:r>
              <a:rPr lang="en-US" sz="1600" dirty="0" err="1"/>
              <a:t>Kainji</a:t>
            </a:r>
            <a:r>
              <a:rPr lang="en-US" sz="1600" dirty="0"/>
              <a:t> dockets) focus on state security offenses, offering zero victim restitution or standing for CRSV survivors.</a:t>
            </a:r>
            <a:r>
              <a:rPr sz="1600" dirty="0" smtClean="0"/>
              <a:t>.</a:t>
            </a:r>
            <a:endParaRPr sz="1600" dirty="0"/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600" dirty="0" smtClean="0"/>
              <a:t>•</a:t>
            </a:r>
            <a:r>
              <a:rPr lang="en-GB" sz="1600" dirty="0"/>
              <a:t>Decades pass without survivors receiving emergency surgery, trauma care, or livelihood restoration while waiting for an unviable criminal justice outcome.</a:t>
            </a:r>
            <a:r>
              <a:rPr sz="1600" dirty="0" smtClean="0"/>
              <a:t>.</a:t>
            </a:r>
            <a:endParaRPr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3840480"/>
          </a:xfrm>
          <a:prstGeom prst="roundRect">
            <a:avLst/>
          </a:prstGeom>
          <a:solidFill>
            <a:srgbClr val="F1F5F9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rPr sz="2000" dirty="0"/>
              <a:t>PROPOSED: Administrative IRMs (Survivor-Led)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600" dirty="0"/>
              <a:t>• Decoupled from Prosecution: Delivers immediate, non-contentious redress regardless of whether perpetrators are captured or identified.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600" dirty="0"/>
              <a:t>• Trauma-Informed Standard of Proof: Uses reasonable administrative verification conducted alongside trusted survivor-led civil society groups.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600" dirty="0"/>
              <a:t>• Immediate Stabilization: Tiered cash grants, comprehensive clinical rehabilitation, and specialized educational grants for affected children.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79"/>
            <a:ext cx="10698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A365D"/>
                </a:solidFill>
              </a:defRPr>
            </a:pPr>
            <a:r>
              <a:rPr sz="1600" dirty="0"/>
              <a:t>Core Takeaway: The significant empirical footprint of statutory forces (42.4% of recorded actor-years) reinforces an imperative for state-led administrative redress under international standards, independent of insurgent surrender or trial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89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B2C2C"/>
                </a:solidFill>
              </a:defRPr>
            </a:pPr>
            <a:r>
              <a:rPr sz="2000" dirty="0"/>
              <a:t>EXECUTIVE BRIEFING: POLICY &amp; EVIDENCE</a:t>
            </a:r>
          </a:p>
          <a:p>
            <a:pPr>
              <a:spcBef>
                <a:spcPts val="400"/>
              </a:spcBef>
              <a:defRPr sz="2200" b="1">
                <a:solidFill>
                  <a:srgbClr val="1A365D"/>
                </a:solidFill>
              </a:defRPr>
            </a:pPr>
            <a:r>
              <a:rPr sz="2800" dirty="0"/>
              <a:t>Strategic Action Plan: Immediate Policy &amp; Financing Directives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rPr sz="1600" dirty="0"/>
              <a:t>1. Establish an Administrative Reparations Board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The Federal Government and Northeast States should establish a dedicated, non-judicial administrative board (partnering with the Ministry of Women Affairs &amp; NHRC) to manage intake and disbursements decoupled from criminal courts.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200" b="1">
                <a:solidFill>
                  <a:srgbClr val="9B2C2C"/>
                </a:solidFill>
              </a:defRPr>
            </a:pPr>
            <a:r>
              <a:rPr sz="1600" dirty="0"/>
              <a:t>2. Deploy a Secure, Survivor-Led Registry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Co-design a trauma-informed, decentralized data intake platform with grassroots survivor networks, incorporating strict biometric and privacy firewalls to eliminate re-traumatization and societal backlash.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rPr sz="1600" dirty="0"/>
              <a:t>3. Establish a Multi-Stream Reparations Fund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Capitalize an emergency redress fund combining statutory </a:t>
            </a:r>
            <a:r>
              <a:rPr sz="1600" dirty="0" smtClean="0"/>
              <a:t>federal</a:t>
            </a:r>
            <a:r>
              <a:rPr lang="en-GB" sz="1600" dirty="0" smtClean="0"/>
              <a:t> appropriations</a:t>
            </a:r>
            <a:r>
              <a:rPr sz="1600" dirty="0" smtClean="0"/>
              <a:t>, and </a:t>
            </a:r>
            <a:r>
              <a:rPr sz="1600" dirty="0"/>
              <a:t>international donor </a:t>
            </a:r>
            <a:r>
              <a:rPr sz="1600" dirty="0" smtClean="0"/>
              <a:t>contributions.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200" b="1">
                <a:solidFill>
                  <a:srgbClr val="9B2C2C"/>
                </a:solidFill>
              </a:defRPr>
            </a:pPr>
            <a:r>
              <a:rPr sz="1600" dirty="0"/>
              <a:t>4. Guarantee Civil Identity &amp; Non-Recurrence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Issue executive directives providing barrier-free birth registration for children born of war, alongside mandatory human rights and CRSV-compliance training embedded in military and police operational doctrines.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742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2026-10-04T20:19:40Z</dcterms:modified>
  <cp:category/>
</cp:coreProperties>
</file>